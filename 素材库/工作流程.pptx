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9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s1-card-01-bg"/>
          <p:cNvSpPr>
            <a:spLocks noGrp="1"/>
          </p:cNvSpPr>
          <p:nvPr/>
        </p:nvSpPr>
        <p:spPr>
          <a:xfrm>
            <a:off x="133350" y="361950"/>
            <a:ext cx="1828800" cy="2781300"/>
          </a:xfrm>
          <a:prstGeom prst="roundRect">
            <a:avLst>
              <a:gd name="adj" fmla="val 1042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2" name="s1-card-01-label-bg"/>
          <p:cNvSpPr>
            <a:spLocks noGrp="1"/>
          </p:cNvSpPr>
          <p:nvPr/>
        </p:nvSpPr>
        <p:spPr>
          <a:xfrm>
            <a:off x="152400" y="2743200"/>
            <a:ext cx="1790700" cy="38100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3" name="s1-card-01-label"/>
          <p:cNvSpPr>
            <a:spLocks noGrp="1"/>
          </p:cNvSpPr>
          <p:nvPr/>
        </p:nvSpPr>
        <p:spPr>
          <a:xfrm>
            <a:off x="171450" y="2762250"/>
            <a:ext cx="1752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非战斗待机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1-card-02-bg"/>
          <p:cNvSpPr>
            <a:spLocks noGrp="1"/>
          </p:cNvSpPr>
          <p:nvPr/>
        </p:nvSpPr>
        <p:spPr>
          <a:xfrm>
            <a:off x="2019300" y="361950"/>
            <a:ext cx="1828800" cy="2781300"/>
          </a:xfrm>
          <a:prstGeom prst="roundRect">
            <a:avLst>
              <a:gd name="adj" fmla="val 1042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6" name="s1-card-02-label-bg"/>
          <p:cNvSpPr>
            <a:spLocks noGrp="1"/>
          </p:cNvSpPr>
          <p:nvPr/>
        </p:nvSpPr>
        <p:spPr>
          <a:xfrm>
            <a:off x="2038350" y="2743200"/>
            <a:ext cx="1790700" cy="38100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7" name="s1-card-02-label"/>
          <p:cNvSpPr>
            <a:spLocks noGrp="1"/>
          </p:cNvSpPr>
          <p:nvPr/>
        </p:nvSpPr>
        <p:spPr>
          <a:xfrm>
            <a:off x="2057400" y="2762250"/>
            <a:ext cx="1752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非战斗移动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-card-03-bg"/>
          <p:cNvSpPr>
            <a:spLocks noGrp="1"/>
          </p:cNvSpPr>
          <p:nvPr/>
        </p:nvSpPr>
        <p:spPr>
          <a:xfrm>
            <a:off x="3905250" y="361950"/>
            <a:ext cx="2343150" cy="2781300"/>
          </a:xfrm>
          <a:prstGeom prst="roundRect">
            <a:avLst>
              <a:gd name="adj" fmla="val 813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10" name="s1-card-03-label-bg"/>
          <p:cNvSpPr>
            <a:spLocks noGrp="1"/>
          </p:cNvSpPr>
          <p:nvPr/>
        </p:nvSpPr>
        <p:spPr>
          <a:xfrm>
            <a:off x="3924300" y="2743200"/>
            <a:ext cx="2305050" cy="38100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11" name="s1-card-03-label"/>
          <p:cNvSpPr>
            <a:spLocks noGrp="1"/>
          </p:cNvSpPr>
          <p:nvPr/>
        </p:nvSpPr>
        <p:spPr>
          <a:xfrm>
            <a:off x="3943350" y="276225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战斗待机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-card-04-bg"/>
          <p:cNvSpPr>
            <a:spLocks noGrp="1"/>
          </p:cNvSpPr>
          <p:nvPr/>
        </p:nvSpPr>
        <p:spPr>
          <a:xfrm>
            <a:off x="6305550" y="361950"/>
            <a:ext cx="3086100" cy="2781300"/>
          </a:xfrm>
          <a:prstGeom prst="roundRect">
            <a:avLst>
              <a:gd name="adj" fmla="val 685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14" name="s1-card-04-label-bg"/>
          <p:cNvSpPr>
            <a:spLocks noGrp="1"/>
          </p:cNvSpPr>
          <p:nvPr/>
        </p:nvSpPr>
        <p:spPr>
          <a:xfrm>
            <a:off x="6324600" y="2743200"/>
            <a:ext cx="3048000" cy="38100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15" name="s1-card-04-label"/>
          <p:cNvSpPr>
            <a:spLocks noGrp="1"/>
          </p:cNvSpPr>
          <p:nvPr/>
        </p:nvSpPr>
        <p:spPr>
          <a:xfrm>
            <a:off x="6343650" y="276225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战斗移动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1-card-05-bg"/>
          <p:cNvSpPr>
            <a:spLocks noGrp="1"/>
          </p:cNvSpPr>
          <p:nvPr/>
        </p:nvSpPr>
        <p:spPr>
          <a:xfrm>
            <a:off x="133350" y="3295650"/>
            <a:ext cx="2495550" cy="2743200"/>
          </a:xfrm>
          <a:prstGeom prst="roundRect">
            <a:avLst>
              <a:gd name="adj" fmla="val 763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18" name="s1-card-05-label-bg"/>
          <p:cNvSpPr>
            <a:spLocks noGrp="1"/>
          </p:cNvSpPr>
          <p:nvPr/>
        </p:nvSpPr>
        <p:spPr>
          <a:xfrm>
            <a:off x="152400" y="5638800"/>
            <a:ext cx="2457450" cy="38100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19" name="s1-card-05-label"/>
          <p:cNvSpPr>
            <a:spLocks noGrp="1"/>
          </p:cNvSpPr>
          <p:nvPr/>
        </p:nvSpPr>
        <p:spPr>
          <a:xfrm>
            <a:off x="171450" y="5657850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受击倒地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1-card-06-bg"/>
          <p:cNvSpPr>
            <a:spLocks noGrp="1"/>
          </p:cNvSpPr>
          <p:nvPr/>
        </p:nvSpPr>
        <p:spPr>
          <a:xfrm>
            <a:off x="2705100" y="3295650"/>
            <a:ext cx="3429000" cy="2743200"/>
          </a:xfrm>
          <a:prstGeom prst="roundRect">
            <a:avLst>
              <a:gd name="adj" fmla="val 694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22" name="s1-card-06-label-bg"/>
          <p:cNvSpPr>
            <a:spLocks noGrp="1"/>
          </p:cNvSpPr>
          <p:nvPr/>
        </p:nvSpPr>
        <p:spPr>
          <a:xfrm>
            <a:off x="2724150" y="5638800"/>
            <a:ext cx="3390900" cy="38100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23" name="s1-card-06-label"/>
          <p:cNvSpPr>
            <a:spLocks noGrp="1"/>
          </p:cNvSpPr>
          <p:nvPr/>
        </p:nvSpPr>
        <p:spPr>
          <a:xfrm>
            <a:off x="2743200" y="5657850"/>
            <a:ext cx="3352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向右突进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1-card-07-bg"/>
          <p:cNvSpPr>
            <a:spLocks noGrp="1"/>
          </p:cNvSpPr>
          <p:nvPr/>
        </p:nvSpPr>
        <p:spPr>
          <a:xfrm>
            <a:off x="6210300" y="3295650"/>
            <a:ext cx="3181350" cy="2743200"/>
          </a:xfrm>
          <a:prstGeom prst="roundRect">
            <a:avLst>
              <a:gd name="adj" fmla="val 694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26" name="s1-card-07-label-bg"/>
          <p:cNvSpPr>
            <a:spLocks noGrp="1"/>
          </p:cNvSpPr>
          <p:nvPr/>
        </p:nvSpPr>
        <p:spPr>
          <a:xfrm>
            <a:off x="6229350" y="5638800"/>
            <a:ext cx="3143250" cy="38100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27" name="s1-card-07-label"/>
          <p:cNvSpPr>
            <a:spLocks noGrp="1"/>
          </p:cNvSpPr>
          <p:nvPr/>
        </p:nvSpPr>
        <p:spPr>
          <a:xfrm>
            <a:off x="6248400" y="5657850"/>
            <a:ext cx="3105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向右投技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1-side-01-bg"/>
          <p:cNvSpPr>
            <a:spLocks noGrp="1"/>
          </p:cNvSpPr>
          <p:nvPr/>
        </p:nvSpPr>
        <p:spPr>
          <a:xfrm>
            <a:off x="9525000" y="361950"/>
            <a:ext cx="2533650" cy="2781300"/>
          </a:xfrm>
          <a:prstGeom prst="roundRect">
            <a:avLst>
              <a:gd name="adj" fmla="val 752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30" name="s1-side-01-title-bg"/>
          <p:cNvSpPr>
            <a:spLocks noGrp="1"/>
          </p:cNvSpPr>
          <p:nvPr/>
        </p:nvSpPr>
        <p:spPr>
          <a:xfrm>
            <a:off x="9544050" y="381000"/>
            <a:ext cx="2495550" cy="381000"/>
          </a:xfrm>
          <a:prstGeom prst="roundRect">
            <a:avLst>
              <a:gd name="adj" fmla="val 5000"/>
            </a:avLst>
          </a:prstGeom>
          <a:solidFill>
            <a:srgbClr val="1F466E"/>
          </a:solidFill>
          <a:ln w="11430">
            <a:solidFill>
              <a:srgbClr val="143A60"/>
            </a:solidFill>
            <a:prstDash val="solid"/>
          </a:ln>
        </p:spPr>
      </p:sp>
      <p:sp>
        <p:nvSpPr>
          <p:cNvPr id="31" name="s1-side-01-title"/>
          <p:cNvSpPr>
            <a:spLocks noGrp="1"/>
          </p:cNvSpPr>
          <p:nvPr/>
        </p:nvSpPr>
        <p:spPr>
          <a:xfrm>
            <a:off x="9601200" y="39052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手持剪刀·近战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1-side-02-bg"/>
          <p:cNvSpPr>
            <a:spLocks noGrp="1"/>
          </p:cNvSpPr>
          <p:nvPr/>
        </p:nvSpPr>
        <p:spPr>
          <a:xfrm>
            <a:off x="9525000" y="3295650"/>
            <a:ext cx="2533650" cy="2743200"/>
          </a:xfrm>
          <a:prstGeom prst="roundRect">
            <a:avLst>
              <a:gd name="adj" fmla="val 752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34" name="s1-side-02-title-bg"/>
          <p:cNvSpPr>
            <a:spLocks noGrp="1"/>
          </p:cNvSpPr>
          <p:nvPr/>
        </p:nvSpPr>
        <p:spPr>
          <a:xfrm>
            <a:off x="9544050" y="3314700"/>
            <a:ext cx="2495550" cy="381000"/>
          </a:xfrm>
          <a:prstGeom prst="roundRect">
            <a:avLst>
              <a:gd name="adj" fmla="val 5000"/>
            </a:avLst>
          </a:prstGeom>
          <a:solidFill>
            <a:srgbClr val="1F466E"/>
          </a:solidFill>
          <a:ln w="11430">
            <a:solidFill>
              <a:srgbClr val="143A60"/>
            </a:solidFill>
            <a:prstDash val="solid"/>
          </a:ln>
        </p:spPr>
      </p:sp>
      <p:sp>
        <p:nvSpPr>
          <p:cNvPr id="35" name="s1-side-02-title"/>
          <p:cNvSpPr>
            <a:spLocks noGrp="1"/>
          </p:cNvSpPr>
          <p:nvPr/>
        </p:nvSpPr>
        <p:spPr>
          <a:xfrm>
            <a:off x="9601200" y="332422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以气御剪·远程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图片 37" descr="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" y="1052830"/>
            <a:ext cx="1661160" cy="1108075"/>
          </a:xfrm>
          <a:prstGeom prst="rect">
            <a:avLst/>
          </a:prstGeom>
        </p:spPr>
      </p:pic>
      <p:pic>
        <p:nvPicPr>
          <p:cNvPr id="39" name="图片 38" descr="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155" y="1040130"/>
            <a:ext cx="1680845" cy="1120775"/>
          </a:xfrm>
          <a:prstGeom prst="rect">
            <a:avLst/>
          </a:prstGeom>
        </p:spPr>
      </p:pic>
      <p:pic>
        <p:nvPicPr>
          <p:cNvPr id="40" name="图片 39" descr="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855" y="1040130"/>
            <a:ext cx="2059940" cy="1373505"/>
          </a:xfrm>
          <a:prstGeom prst="rect">
            <a:avLst/>
          </a:prstGeom>
        </p:spPr>
      </p:pic>
      <p:pic>
        <p:nvPicPr>
          <p:cNvPr id="41" name="图片 40" descr="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050" y="620395"/>
            <a:ext cx="2926715" cy="1951355"/>
          </a:xfrm>
          <a:prstGeom prst="rect">
            <a:avLst/>
          </a:prstGeom>
        </p:spPr>
      </p:pic>
      <p:pic>
        <p:nvPicPr>
          <p:cNvPr id="42" name="图片 41" descr="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" y="3725545"/>
            <a:ext cx="2291080" cy="1527810"/>
          </a:xfrm>
          <a:prstGeom prst="rect">
            <a:avLst/>
          </a:prstGeom>
        </p:spPr>
      </p:pic>
      <p:pic>
        <p:nvPicPr>
          <p:cNvPr id="43" name="图片 42" descr="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5275" y="3453765"/>
            <a:ext cx="3165475" cy="2110740"/>
          </a:xfrm>
          <a:prstGeom prst="rect">
            <a:avLst/>
          </a:prstGeom>
        </p:spPr>
      </p:pic>
      <p:pic>
        <p:nvPicPr>
          <p:cNvPr id="44" name="图片 43" descr="0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5550" y="3500755"/>
            <a:ext cx="2993390" cy="1995805"/>
          </a:xfrm>
          <a:prstGeom prst="rect">
            <a:avLst/>
          </a:prstGeom>
        </p:spPr>
      </p:pic>
      <p:pic>
        <p:nvPicPr>
          <p:cNvPr id="49" name="图片 48" descr="0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8020" y="1052830"/>
            <a:ext cx="2454275" cy="1636395"/>
          </a:xfrm>
          <a:prstGeom prst="rect">
            <a:avLst/>
          </a:prstGeom>
        </p:spPr>
      </p:pic>
      <p:pic>
        <p:nvPicPr>
          <p:cNvPr id="51" name="图片 50" descr="0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8840" y="4004945"/>
            <a:ext cx="2060575" cy="13741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9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s2-card-01-bg"/>
          <p:cNvSpPr>
            <a:spLocks noGrp="1"/>
          </p:cNvSpPr>
          <p:nvPr/>
        </p:nvSpPr>
        <p:spPr>
          <a:xfrm>
            <a:off x="114300" y="323850"/>
            <a:ext cx="2133600" cy="3048000"/>
          </a:xfrm>
          <a:prstGeom prst="roundRect">
            <a:avLst>
              <a:gd name="adj" fmla="val 893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2" name="s2-card-01-label-bg"/>
          <p:cNvSpPr>
            <a:spLocks noGrp="1"/>
          </p:cNvSpPr>
          <p:nvPr/>
        </p:nvSpPr>
        <p:spPr>
          <a:xfrm>
            <a:off x="133350" y="2933700"/>
            <a:ext cx="2095500" cy="41910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3" name="s2-card-01-label"/>
          <p:cNvSpPr>
            <a:spLocks noGrp="1"/>
          </p:cNvSpPr>
          <p:nvPr/>
        </p:nvSpPr>
        <p:spPr>
          <a:xfrm>
            <a:off x="152400" y="29527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非战斗待机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2-card-02-bg"/>
          <p:cNvSpPr>
            <a:spLocks noGrp="1"/>
          </p:cNvSpPr>
          <p:nvPr/>
        </p:nvSpPr>
        <p:spPr>
          <a:xfrm>
            <a:off x="2324100" y="323850"/>
            <a:ext cx="1952625" cy="3048000"/>
          </a:xfrm>
          <a:prstGeom prst="roundRect">
            <a:avLst>
              <a:gd name="adj" fmla="val 976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6" name="s2-card-02-label-bg"/>
          <p:cNvSpPr>
            <a:spLocks noGrp="1"/>
          </p:cNvSpPr>
          <p:nvPr/>
        </p:nvSpPr>
        <p:spPr>
          <a:xfrm>
            <a:off x="2343150" y="2933700"/>
            <a:ext cx="1914525" cy="41910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7" name="s2-card-02-label"/>
          <p:cNvSpPr>
            <a:spLocks noGrp="1"/>
          </p:cNvSpPr>
          <p:nvPr/>
        </p:nvSpPr>
        <p:spPr>
          <a:xfrm>
            <a:off x="2362200" y="2952750"/>
            <a:ext cx="1876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非战斗移动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2-card-03-bg"/>
          <p:cNvSpPr>
            <a:spLocks noGrp="1"/>
          </p:cNvSpPr>
          <p:nvPr/>
        </p:nvSpPr>
        <p:spPr>
          <a:xfrm>
            <a:off x="4352925" y="323850"/>
            <a:ext cx="2124075" cy="3048000"/>
          </a:xfrm>
          <a:prstGeom prst="roundRect">
            <a:avLst>
              <a:gd name="adj" fmla="val 897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10" name="s2-card-03-label-bg"/>
          <p:cNvSpPr>
            <a:spLocks noGrp="1"/>
          </p:cNvSpPr>
          <p:nvPr/>
        </p:nvSpPr>
        <p:spPr>
          <a:xfrm>
            <a:off x="4371975" y="2933700"/>
            <a:ext cx="2085975" cy="41910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11" name="s2-card-03-label"/>
          <p:cNvSpPr>
            <a:spLocks noGrp="1"/>
          </p:cNvSpPr>
          <p:nvPr/>
        </p:nvSpPr>
        <p:spPr>
          <a:xfrm>
            <a:off x="4391025" y="2952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战斗待机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2-card-04-bg"/>
          <p:cNvSpPr>
            <a:spLocks noGrp="1"/>
          </p:cNvSpPr>
          <p:nvPr/>
        </p:nvSpPr>
        <p:spPr>
          <a:xfrm>
            <a:off x="6553200" y="323850"/>
            <a:ext cx="2762250" cy="3048000"/>
          </a:xfrm>
          <a:prstGeom prst="roundRect">
            <a:avLst>
              <a:gd name="adj" fmla="val 690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14" name="s2-card-04-label-bg"/>
          <p:cNvSpPr>
            <a:spLocks noGrp="1"/>
          </p:cNvSpPr>
          <p:nvPr/>
        </p:nvSpPr>
        <p:spPr>
          <a:xfrm>
            <a:off x="6572250" y="2933700"/>
            <a:ext cx="2724150" cy="41910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15" name="s2-card-04-label"/>
          <p:cNvSpPr>
            <a:spLocks noGrp="1"/>
          </p:cNvSpPr>
          <p:nvPr/>
        </p:nvSpPr>
        <p:spPr>
          <a:xfrm>
            <a:off x="6591300" y="295275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战斗移动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2-card-05-bg"/>
          <p:cNvSpPr>
            <a:spLocks noGrp="1"/>
          </p:cNvSpPr>
          <p:nvPr/>
        </p:nvSpPr>
        <p:spPr>
          <a:xfrm>
            <a:off x="114300" y="3486150"/>
            <a:ext cx="2590800" cy="3048000"/>
          </a:xfrm>
          <a:prstGeom prst="roundRect">
            <a:avLst>
              <a:gd name="adj" fmla="val 735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18" name="s2-card-05-label-bg"/>
          <p:cNvSpPr>
            <a:spLocks noGrp="1"/>
          </p:cNvSpPr>
          <p:nvPr/>
        </p:nvSpPr>
        <p:spPr>
          <a:xfrm>
            <a:off x="133350" y="6076950"/>
            <a:ext cx="2552700" cy="43815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19" name="s2-card-05-label"/>
          <p:cNvSpPr>
            <a:spLocks noGrp="1"/>
          </p:cNvSpPr>
          <p:nvPr/>
        </p:nvSpPr>
        <p:spPr>
          <a:xfrm>
            <a:off x="152400" y="6096000"/>
            <a:ext cx="2514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受击倒地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2-card-06-bg"/>
          <p:cNvSpPr>
            <a:spLocks noGrp="1"/>
          </p:cNvSpPr>
          <p:nvPr/>
        </p:nvSpPr>
        <p:spPr>
          <a:xfrm>
            <a:off x="2819400" y="3486150"/>
            <a:ext cx="3238500" cy="3048000"/>
          </a:xfrm>
          <a:prstGeom prst="roundRect">
            <a:avLst>
              <a:gd name="adj" fmla="val 625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22" name="s2-card-06-label-bg"/>
          <p:cNvSpPr>
            <a:spLocks noGrp="1"/>
          </p:cNvSpPr>
          <p:nvPr/>
        </p:nvSpPr>
        <p:spPr>
          <a:xfrm>
            <a:off x="2838450" y="6076950"/>
            <a:ext cx="3200400" cy="43815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23" name="s2-card-06-label"/>
          <p:cNvSpPr>
            <a:spLocks noGrp="1"/>
          </p:cNvSpPr>
          <p:nvPr/>
        </p:nvSpPr>
        <p:spPr>
          <a:xfrm>
            <a:off x="2857500" y="6096000"/>
            <a:ext cx="3162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向右突进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2-card-07-bg"/>
          <p:cNvSpPr>
            <a:spLocks noGrp="1"/>
          </p:cNvSpPr>
          <p:nvPr/>
        </p:nvSpPr>
        <p:spPr>
          <a:xfrm>
            <a:off x="6172200" y="3486150"/>
            <a:ext cx="3143250" cy="3048000"/>
          </a:xfrm>
          <a:prstGeom prst="roundRect">
            <a:avLst>
              <a:gd name="adj" fmla="val 625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26" name="s2-card-07-label-bg"/>
          <p:cNvSpPr>
            <a:spLocks noGrp="1"/>
          </p:cNvSpPr>
          <p:nvPr/>
        </p:nvSpPr>
        <p:spPr>
          <a:xfrm>
            <a:off x="6191250" y="6076950"/>
            <a:ext cx="3105150" cy="438150"/>
          </a:xfrm>
          <a:prstGeom prst="rect">
            <a:avLst/>
          </a:prstGeom>
          <a:solidFill>
            <a:srgbClr val="D9D1B7"/>
          </a:solidFill>
          <a:ln w="0">
            <a:noFill/>
            <a:prstDash val="solid"/>
          </a:ln>
        </p:spPr>
      </p:sp>
      <p:sp>
        <p:nvSpPr>
          <p:cNvPr id="27" name="s2-card-07-label"/>
          <p:cNvSpPr>
            <a:spLocks noGrp="1"/>
          </p:cNvSpPr>
          <p:nvPr/>
        </p:nvSpPr>
        <p:spPr>
          <a:xfrm>
            <a:off x="6210300" y="6096000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3D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向右投技</a:t>
            </a:r>
            <a:endParaRPr sz="1650" b="1">
              <a:solidFill>
                <a:srgbClr val="163D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2-side-01-bg"/>
          <p:cNvSpPr>
            <a:spLocks noGrp="1"/>
          </p:cNvSpPr>
          <p:nvPr/>
        </p:nvSpPr>
        <p:spPr>
          <a:xfrm>
            <a:off x="9429750" y="323850"/>
            <a:ext cx="2647950" cy="3048000"/>
          </a:xfrm>
          <a:prstGeom prst="roundRect">
            <a:avLst>
              <a:gd name="adj" fmla="val 719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30" name="s2-side-01-title-bg"/>
          <p:cNvSpPr>
            <a:spLocks noGrp="1"/>
          </p:cNvSpPr>
          <p:nvPr/>
        </p:nvSpPr>
        <p:spPr>
          <a:xfrm>
            <a:off x="9448800" y="342900"/>
            <a:ext cx="2609850" cy="419100"/>
          </a:xfrm>
          <a:prstGeom prst="roundRect">
            <a:avLst>
              <a:gd name="adj" fmla="val 4545"/>
            </a:avLst>
          </a:prstGeom>
          <a:solidFill>
            <a:srgbClr val="1F466E"/>
          </a:solidFill>
          <a:ln w="11430">
            <a:solidFill>
              <a:srgbClr val="143A60"/>
            </a:solidFill>
            <a:prstDash val="solid"/>
          </a:ln>
        </p:spPr>
      </p:sp>
      <p:sp>
        <p:nvSpPr>
          <p:cNvPr id="31" name="s2-side-01-title"/>
          <p:cNvSpPr>
            <a:spLocks noGrp="1"/>
          </p:cNvSpPr>
          <p:nvPr/>
        </p:nvSpPr>
        <p:spPr>
          <a:xfrm>
            <a:off x="9505950" y="352425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魔刃·手持·近战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2-side-02-bg"/>
          <p:cNvSpPr>
            <a:spLocks noGrp="1"/>
          </p:cNvSpPr>
          <p:nvPr/>
        </p:nvSpPr>
        <p:spPr>
          <a:xfrm>
            <a:off x="9429750" y="3486150"/>
            <a:ext cx="2647950" cy="3048000"/>
          </a:xfrm>
          <a:prstGeom prst="roundRect">
            <a:avLst>
              <a:gd name="adj" fmla="val 719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sp>
        <p:nvSpPr>
          <p:cNvPr id="34" name="s2-side-02-title-bg"/>
          <p:cNvSpPr>
            <a:spLocks noGrp="1"/>
          </p:cNvSpPr>
          <p:nvPr/>
        </p:nvSpPr>
        <p:spPr>
          <a:xfrm>
            <a:off x="9448800" y="3505200"/>
            <a:ext cx="2609850" cy="419100"/>
          </a:xfrm>
          <a:prstGeom prst="roundRect">
            <a:avLst>
              <a:gd name="adj" fmla="val 4545"/>
            </a:avLst>
          </a:prstGeom>
          <a:solidFill>
            <a:srgbClr val="1F466E"/>
          </a:solidFill>
          <a:ln w="11430">
            <a:solidFill>
              <a:srgbClr val="143A60"/>
            </a:solidFill>
            <a:prstDash val="solid"/>
          </a:ln>
        </p:spPr>
      </p:sp>
      <p:sp>
        <p:nvSpPr>
          <p:cNvPr id="35" name="s2-side-02-title"/>
          <p:cNvSpPr>
            <a:spLocks noGrp="1"/>
          </p:cNvSpPr>
          <p:nvPr/>
        </p:nvSpPr>
        <p:spPr>
          <a:xfrm>
            <a:off x="9505950" y="3514725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魔刃千刃·远程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图片 37" descr="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20395"/>
            <a:ext cx="2037715" cy="1358900"/>
          </a:xfrm>
          <a:prstGeom prst="rect">
            <a:avLst/>
          </a:prstGeom>
        </p:spPr>
      </p:pic>
      <p:sp>
        <p:nvSpPr>
          <p:cNvPr id="39" name="s2-card-02-bg"/>
          <p:cNvSpPr>
            <a:spLocks noGrp="1"/>
          </p:cNvSpPr>
          <p:nvPr/>
        </p:nvSpPr>
        <p:spPr>
          <a:xfrm>
            <a:off x="2345055" y="342900"/>
            <a:ext cx="1952625" cy="2524760"/>
          </a:xfrm>
          <a:prstGeom prst="roundRect">
            <a:avLst>
              <a:gd name="adj" fmla="val 976"/>
            </a:avLst>
          </a:prstGeom>
          <a:solidFill>
            <a:srgbClr val="E7E0C9"/>
          </a:solidFill>
          <a:ln w="14288">
            <a:solidFill>
              <a:srgbClr val="A69D87"/>
            </a:solidFill>
            <a:prstDash val="solid"/>
          </a:ln>
        </p:spPr>
      </p:sp>
      <p:pic>
        <p:nvPicPr>
          <p:cNvPr id="40" name="图片 39" descr="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075" y="692785"/>
            <a:ext cx="1860550" cy="1240790"/>
          </a:xfrm>
          <a:prstGeom prst="rect">
            <a:avLst/>
          </a:prstGeom>
        </p:spPr>
      </p:pic>
      <p:pic>
        <p:nvPicPr>
          <p:cNvPr id="41" name="图片 40" descr="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025" y="692785"/>
            <a:ext cx="2036445" cy="1358265"/>
          </a:xfrm>
          <a:prstGeom prst="rect">
            <a:avLst/>
          </a:prstGeom>
        </p:spPr>
      </p:pic>
      <p:pic>
        <p:nvPicPr>
          <p:cNvPr id="42" name="图片 41" descr="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890" y="692785"/>
            <a:ext cx="2586990" cy="1724660"/>
          </a:xfrm>
          <a:prstGeom prst="rect">
            <a:avLst/>
          </a:prstGeom>
        </p:spPr>
      </p:pic>
      <p:pic>
        <p:nvPicPr>
          <p:cNvPr id="43" name="图片 42" descr="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3914775"/>
            <a:ext cx="2450465" cy="1634490"/>
          </a:xfrm>
          <a:prstGeom prst="rect">
            <a:avLst/>
          </a:prstGeom>
        </p:spPr>
      </p:pic>
      <p:pic>
        <p:nvPicPr>
          <p:cNvPr id="44" name="图片 43" descr="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7985" y="3924300"/>
            <a:ext cx="3039110" cy="202628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7"/>
          <a:srcRect r="47783"/>
          <a:stretch>
            <a:fillRect/>
          </a:stretch>
        </p:blipFill>
        <p:spPr>
          <a:xfrm>
            <a:off x="9696450" y="909320"/>
            <a:ext cx="1795780" cy="2024380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7"/>
          <a:srcRect l="48340" r="-4434" b="-3168"/>
          <a:stretch>
            <a:fillRect/>
          </a:stretch>
        </p:blipFill>
        <p:spPr>
          <a:xfrm>
            <a:off x="9696450" y="4076700"/>
            <a:ext cx="1929130" cy="2088515"/>
          </a:xfrm>
          <a:prstGeom prst="rect">
            <a:avLst/>
          </a:prstGeom>
        </p:spPr>
      </p:pic>
      <p:pic>
        <p:nvPicPr>
          <p:cNvPr id="50" name="图片 49" descr="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0145" y="3920490"/>
            <a:ext cx="3025140" cy="20173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698240" y="190500"/>
            <a:ext cx="5226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/>
              <a:t>小号</a:t>
            </a:r>
            <a:r>
              <a:rPr lang="en-US" altLang="zh-CN" sz="3200"/>
              <a:t>——</a:t>
            </a:r>
            <a:r>
              <a:rPr lang="zh-CN" altLang="en-US" sz="3200"/>
              <a:t>基础</a:t>
            </a:r>
            <a:r>
              <a:rPr lang="zh-CN" altLang="en-US" sz="3200"/>
              <a:t>移动</a:t>
            </a:r>
            <a:endParaRPr lang="zh-CN" altLang="en-US" sz="3200"/>
          </a:p>
        </p:txBody>
      </p:sp>
      <p:sp>
        <p:nvSpPr>
          <p:cNvPr id="47" name="文本框 46"/>
          <p:cNvSpPr txBox="1"/>
          <p:nvPr>
            <p:custDataLst>
              <p:tags r:id="rId1"/>
            </p:custDataLst>
          </p:nvPr>
        </p:nvSpPr>
        <p:spPr>
          <a:xfrm>
            <a:off x="191770" y="4005580"/>
            <a:ext cx="48336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首尾帧</a:t>
            </a:r>
            <a:r>
              <a:rPr lang="en-US" altLang="zh-CN"/>
              <a:t>prompt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zh-CN" altLang="en-US"/>
              <a:t>严格按照图片生成游戏角色动画，不要瞎发挥创意，图一为</a:t>
            </a:r>
            <a:r>
              <a:rPr lang="en-US" altLang="zh-CN"/>
              <a:t>xxx</a:t>
            </a:r>
            <a:r>
              <a:rPr lang="zh-CN" altLang="en-US"/>
              <a:t>，图二为</a:t>
            </a:r>
            <a:r>
              <a:rPr lang="en-US" altLang="zh-CN"/>
              <a:t>xxx</a:t>
            </a:r>
            <a:r>
              <a:rPr lang="zh-CN" altLang="en-US"/>
              <a:t>，两个动作之间要有衔接，注意衣服和头发要跟随姿势变化而自然</a:t>
            </a:r>
            <a:r>
              <a:rPr lang="zh-CN" altLang="en-US"/>
              <a:t>摆动，保留绿幕，画面要干净，不要有虚影，绝不能缩放，不要有背景音乐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91770" y="2277110"/>
          <a:ext cx="5826760" cy="64071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97865"/>
                <a:gridCol w="1751965"/>
                <a:gridCol w="1692275"/>
                <a:gridCol w="1684655"/>
              </a:tblGrid>
              <a:tr h="640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脱战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idle_r</a:t>
                      </a:r>
                      <a:endParaRPr lang="en-US" altLang="zh-C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walk_r</a:t>
                      </a:r>
                      <a:endParaRPr lang="en-US" altLang="zh-C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walk_l</a:t>
                      </a:r>
                      <a:endParaRPr lang="en-US" altLang="zh-CN" sz="18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>
            <p:custDataLst>
              <p:tags r:id="rId3"/>
            </p:custDataLst>
          </p:nvPr>
        </p:nvGraphicFramePr>
        <p:xfrm>
          <a:off x="191770" y="3122295"/>
          <a:ext cx="5826760" cy="4851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24535"/>
                <a:gridCol w="1168400"/>
                <a:gridCol w="1242060"/>
                <a:gridCol w="1165223"/>
                <a:gridCol w="1526540"/>
              </a:tblGrid>
              <a:tr h="4851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战斗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idle_r</a:t>
                      </a:r>
                      <a:endParaRPr lang="en-US" altLang="zh-C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walk_r</a:t>
                      </a:r>
                      <a:endParaRPr lang="en-US" altLang="zh-C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walk_l</a:t>
                      </a:r>
                      <a:endParaRPr lang="en-US" altLang="zh-C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sprint_r</a:t>
                      </a:r>
                      <a:endParaRPr lang="en-US" altLang="zh-CN" sz="1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2" name="文本框 41"/>
          <p:cNvSpPr txBox="1"/>
          <p:nvPr>
            <p:custDataLst>
              <p:tags r:id="rId4"/>
            </p:custDataLst>
          </p:nvPr>
        </p:nvSpPr>
        <p:spPr>
          <a:xfrm>
            <a:off x="5232400" y="4005580"/>
            <a:ext cx="6096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idle</a:t>
            </a:r>
            <a:r>
              <a:rPr lang="zh-CN" altLang="en-US">
                <a:sym typeface="+mn-ea"/>
              </a:rPr>
              <a:t>循环帧动画</a:t>
            </a:r>
            <a:r>
              <a:rPr lang="en-US" altLang="zh-CN">
                <a:sym typeface="+mn-ea"/>
              </a:rPr>
              <a:t>prompt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：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严格按照图片生成游戏角色动画，不要瞎发挥创意，图一为</a:t>
            </a:r>
            <a:r>
              <a:rPr lang="en-US" altLang="zh-CN">
                <a:sym typeface="+mn-ea"/>
              </a:rPr>
              <a:t>idle</a:t>
            </a:r>
            <a:r>
              <a:rPr lang="zh-CN" altLang="en-US">
                <a:sym typeface="+mn-ea"/>
              </a:rPr>
              <a:t>，需要你生成一段横板游戏角色所需要的待机动画，保留绿幕，待机动画只需要身体自然起伏循环，眼睛自然眨眼循环，做到整体动作自然即可，注意衣服和头发要跟随姿势变化而自然摆动，保留绿幕，</a:t>
            </a:r>
            <a:r>
              <a:rPr lang="zh-CN" altLang="en-US">
                <a:sym typeface="+mn-ea"/>
              </a:rPr>
              <a:t>画面要干净，不要有虚影，镜头固定，绝不能缩放，</a:t>
            </a:r>
            <a:r>
              <a:rPr lang="zh-CN" altLang="en-US">
                <a:sym typeface="+mn-ea"/>
              </a:rPr>
              <a:t>不要有背景音乐</a:t>
            </a:r>
            <a:endParaRPr lang="zh-CN" altLang="en-US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9.85,&quot;left&quot;:15.1,&quot;top&quot;:315.4,&quot;width&quot;:876.9}"/>
</p:tagLst>
</file>

<file path=ppt/tags/tag2.xml><?xml version="1.0" encoding="utf-8"?>
<p:tagLst xmlns:p="http://schemas.openxmlformats.org/presentationml/2006/main">
  <p:tag name="TABLE_ENDDRAG_ORIGIN_RECT" val="458*50"/>
  <p:tag name="TABLE_ENDDRAG_RECT" val="15*179*458*50"/>
</p:tagLst>
</file>

<file path=ppt/tags/tag3.xml><?xml version="1.0" encoding="utf-8"?>
<p:tagLst xmlns:p="http://schemas.openxmlformats.org/presentationml/2006/main">
  <p:tag name="TABLE_ENDDRAG_ORIGIN_RECT" val="447*289"/>
  <p:tag name="TABLE_ENDDRAG_RECT" val="32*122*447*289"/>
</p:tagLst>
</file>

<file path=ppt/tags/tag4.xml><?xml version="1.0" encoding="utf-8"?>
<p:tagLst xmlns:p="http://schemas.openxmlformats.org/presentationml/2006/main">
  <p:tag name="KSO_WM_DIAGRAM_VIRTUALLY_FRAME" val="{&quot;height&quot;:159.85,&quot;left&quot;:15.1,&quot;top&quot;:315.4,&quot;width&quot;:876.9}"/>
</p:tagLst>
</file>

<file path=ppt/tags/tag5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WPS 演示</Application>
  <PresentationFormat>Converted Presentation</PresentationFormat>
  <Paragraphs>60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Calibri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帅过半藏</cp:lastModifiedBy>
  <cp:revision>2</cp:revision>
  <dcterms:created xsi:type="dcterms:W3CDTF">2026-10-18T15:52:58Z</dcterms:created>
  <dcterms:modified xsi:type="dcterms:W3CDTF">2026-10-18T15:53:33Z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EFFDA90629A8433281FEE830B2DBA28C_13</vt:lpwstr>
  </property>
</Properties>
</file>